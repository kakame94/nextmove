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53935" y="731520"/>
            <a:ext cx="4572000" cy="4572000"/>
          </a:xfrm>
          <a:prstGeom prst="ellipse">
            <a:avLst/>
          </a:prstGeom>
          <a:solidFill>
            <a:srgbClr val="F4DDD4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1463040"/>
            <a:ext cx="2194560" cy="2194560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146304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10158070" y="1704442"/>
            <a:ext cx="285293" cy="28529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4592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Startup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Présentation aux 4 fondateurs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Eliot · Dennis · Walkens · Seydou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080760"/>
            <a:ext cx="12191695" cy="77724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AF7F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→ MEASURE → LEARN · CADENCE TRIMESTRIELLE PIVOT/PERSEVERE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83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7F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 2026 · v1.0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CONTEXTE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fait 4 challenges. Voici ce qu'on retient.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60604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60604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060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BMC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 4.8/10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85800" y="3794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trous noirs identifiés (Vision, KVMs, Cost-to-Build)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46120" y="2377440"/>
            <a:ext cx="260604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0" y="260604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0" y="26060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4720" y="31546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 6/10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0" y="3794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risques techniques (n8n SPOF, STOP non atomique, P99…)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2377440"/>
            <a:ext cx="260604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260604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6060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31546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 5.25/10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263640" y="3794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Innovation Accounting absent, métriques = vanity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23960" y="2377440"/>
            <a:ext cx="260604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52560" y="260604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0" y="26060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52560" y="31546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270 courtiers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052560" y="37947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Vrai seuil rentabilité (vs 8 affiché)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12064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Aujourd'hui : on aligne sur la stratégie Lean qui répond à tous ces challenges en parallèle.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LE CONCEPT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→ Measure → Learn (Eric Ries, 2011)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boucle d'apprentissage. Optimiser le temps total du tour, pas chaque étape isolément.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88720" y="2926080"/>
            <a:ext cx="1828800" cy="18288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337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MVP / Feature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basé sur hypothèse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246120" y="3657600"/>
            <a:ext cx="320040" cy="365760"/>
          </a:xfrm>
          <a:prstGeom prst="rightTriangle">
            <a:avLst/>
          </a:prstGeom>
          <a:solidFill>
            <a:srgbClr val="5C5046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0" y="2926080"/>
            <a:ext cx="1828800" cy="18288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3337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2064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funnel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actionable 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78040" y="3657600"/>
            <a:ext cx="320040" cy="365760"/>
          </a:xfrm>
          <a:prstGeom prst="rightTriangle">
            <a:avLst/>
          </a:prstGeom>
          <a:solidFill>
            <a:srgbClr val="5C5046"/>
          </a:solidFill>
          <a:ln/>
        </p:spPr>
      </p:sp>
      <p:sp>
        <p:nvSpPr>
          <p:cNvPr id="21" name="Shape 19"/>
          <p:cNvSpPr/>
          <p:nvPr/>
        </p:nvSpPr>
        <p:spPr>
          <a:xfrm>
            <a:off x="9052560" y="2926080"/>
            <a:ext cx="1828800" cy="18288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2" name="Text 20"/>
          <p:cNvSpPr/>
          <p:nvPr/>
        </p:nvSpPr>
        <p:spPr>
          <a:xfrm>
            <a:off x="9052560" y="3337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5256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Pivot or Persevere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décision documentée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50292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recommence avec hypothèse affinée ↑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577840"/>
            <a:ext cx="11277295" cy="640080"/>
          </a:xfrm>
          <a:prstGeom prst="roundRect">
            <a:avLst>
              <a:gd name="adj" fmla="val 21429"/>
            </a:avLst>
          </a:prstGeom>
          <a:solidFill>
            <a:srgbClr val="F4DDD4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Cible Klaris : cycle ≤ 7 jours (actuel ~30 jours). Gain : apprentissage 4× plus rapide.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PRINCIPE 1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Validated Learning. Pas hockey stick.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5501488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C4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33172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4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 VANITY METRICS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495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éviter dans nos board meetings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49528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1 pilote Joanel » comme proof point seul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90% close rate Joanel » (sa stat avant Klaris)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Hockey stick total registered users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MRR projeté sans cohort retention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downloads iOS sans usage data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194560"/>
            <a:ext cx="5501488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4A9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7328" y="233172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A9D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ACTIONABLE METRICS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07328" y="2697480"/>
            <a:ext cx="495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publier dans nos rapports mensuels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07328" y="3108960"/>
            <a:ext cx="49528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funnel : signup → 1er prospect → paiement → M3 retention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 brute solo 91.5% (cost structure réelle)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NPS courtier post-onboarding D7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Viral coefficient k par cohort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Defects Sentry &lt; 5 critiques/mois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PRINCIPE 2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leap-of-faith assumptions critiques.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Hypothèses non prouvées dont l'invalidation force un PIVOT (pas une optim produit).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3637178" cy="365760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697480"/>
            <a:ext cx="59436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253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5800" y="324612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5800" y="3520440"/>
            <a:ext cx="31799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courtier solo paie 100 $/mois si Klaris lui sauve 2-3 h/jour d'admin.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57200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4846320"/>
            <a:ext cx="317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 : ≥ 3/10 trial → paid sur cohort 10 courtiers solo recrutés via Joanel.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576072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 1/10 → customer need pivot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77258" y="2468880"/>
            <a:ext cx="3637178" cy="365760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05858" y="2697480"/>
            <a:ext cx="59436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05858" y="26974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LF2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91658" y="2697480"/>
            <a:ext cx="253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05858" y="324612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05858" y="3520440"/>
            <a:ext cx="31799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Referrals courtier ↔ courtier produisent un viral coefficient k ≥ 1.0.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05858" y="457200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05858" y="4846320"/>
            <a:ext cx="317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 : k mesuré sur 5 premiers payants après feature « Inviter un confrère ».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05858" y="557784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05858" y="576072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&lt; 0.5 → channel pivot vers Google Ads / OACIQ events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97317" y="2468880"/>
            <a:ext cx="3637178" cy="365760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25917" y="2697480"/>
            <a:ext cx="59436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35" name="Text 33"/>
          <p:cNvSpPr/>
          <p:nvPr/>
        </p:nvSpPr>
        <p:spPr>
          <a:xfrm>
            <a:off x="8325917" y="26974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LF3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11717" y="2697480"/>
            <a:ext cx="253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25917" y="324612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HYPOTHÈSE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25917" y="3520440"/>
            <a:ext cx="31799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OACIQ accepte audit log + 1-clic reprise humaine (pas de bannissement).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25917" y="457200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25917" y="4846320"/>
            <a:ext cx="3179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 : confirmation écrite OACIQ après dialogue formel + dossier.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5917" y="5577840"/>
            <a:ext cx="3179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25917" y="576072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 → technology pivot vers recommandations courtier-validées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PRINCIPE 3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Innovation Accounting — 3 milestones.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637178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31520" y="35661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Baseline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MVP en prod → mesurer cohort funnel réel.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: démarre cohort 2026-06 (3-5 courtiers solo).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7258" y="2286000"/>
            <a:ext cx="3637178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1578" y="2560320"/>
            <a:ext cx="822960" cy="8229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9" name="Text 17"/>
          <p:cNvSpPr/>
          <p:nvPr/>
        </p:nvSpPr>
        <p:spPr>
          <a:xfrm>
            <a:off x="4551578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51578" y="35661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Tune the Engine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51578" y="411480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after sprint, mesurer si conversion rate s'améliore.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feature = fiche hypothèse mesurable.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7317" y="2286000"/>
            <a:ext cx="3637178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71637" y="2560320"/>
            <a:ext cx="822960" cy="8229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4" name="Text 22"/>
          <p:cNvSpPr/>
          <p:nvPr/>
        </p:nvSpPr>
        <p:spPr>
          <a:xfrm>
            <a:off x="8371637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371637" y="356616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Pivot or Persevere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371637" y="411480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métriques actionable ne bougent pas → pivot.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Cadence Klaris : trimestrielle (Q1/Q2/Q3/Q4).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280"/>
            <a:ext cx="11277295" cy="548640"/>
          </a:xfrm>
          <a:prstGeom prst="roundRect">
            <a:avLst>
              <a:gd name="adj" fmla="val 25000"/>
            </a:avLst>
          </a:prstGeom>
          <a:solidFill>
            <a:srgbClr val="F4DDD4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aujourd'hui : 2/12 KVMs trackés (Release Frequency + Defects). Cible Sprint 8 : 6/12.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MESURE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funnel Klaris — 6 étapes.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803349" cy="365760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0275" y="251460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30275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Visite landing OU referral reçu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351989" y="2354580"/>
            <a:ext cx="1803349" cy="352044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25064" y="258318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025064" y="25831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443429" y="322326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43429" y="372618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Compte broker créé + numéro Twilio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6778" y="2423160"/>
            <a:ext cx="1803349" cy="338328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19853" y="265176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853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338218" y="329184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38218" y="379476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1er prospect SMS handover réel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41568" y="2491740"/>
            <a:ext cx="1803349" cy="324612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642" y="272034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9" name="Text 27"/>
          <p:cNvSpPr/>
          <p:nvPr/>
        </p:nvSpPr>
        <p:spPr>
          <a:xfrm>
            <a:off x="6814642" y="2720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233008" y="336042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233008" y="386334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5e prospect qualifié auto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36357" y="2560320"/>
            <a:ext cx="1803349" cy="310896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09431" y="278892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34" name="Text 32"/>
          <p:cNvSpPr/>
          <p:nvPr/>
        </p:nvSpPr>
        <p:spPr>
          <a:xfrm>
            <a:off x="8709431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127797" y="342900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127797" y="393192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Trial 14j → carte Stripe (100$/mois)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931146" y="2628900"/>
            <a:ext cx="1803349" cy="2971800"/>
          </a:xfrm>
          <a:prstGeom prst="roundRect">
            <a:avLst>
              <a:gd name="adj" fmla="val 7606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04221" y="285750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39" name="Text 37"/>
          <p:cNvSpPr/>
          <p:nvPr/>
        </p:nvSpPr>
        <p:spPr>
          <a:xfrm>
            <a:off x="10604221" y="2857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0022586" y="3497580"/>
            <a:ext cx="1620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 M3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022586" y="4000500"/>
            <a:ext cx="162046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Toujours payant à 90 jours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1264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Cible Sprint 8 : template prêt. Cible M3 : 1ère cohort 2026-06 exploitable (≥ 3 courtiers).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CROISSANCE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engines of growth — on choisit lequel ?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637178" cy="384048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4A9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4A9D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06324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 élevée → revenu récurrent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65760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CLÉ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Churn &lt; retention rate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FIT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754880"/>
            <a:ext cx="3088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fit — abonnement adjointe IA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623560"/>
            <a:ext cx="3088538" cy="365760"/>
          </a:xfrm>
          <a:prstGeom prst="roundRect">
            <a:avLst>
              <a:gd name="adj" fmla="val 20000"/>
            </a:avLst>
          </a:prstGeom>
          <a:solidFill>
            <a:srgbClr val="4A9D5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62356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ENGINE PRINCIPAL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77258" y="2286000"/>
            <a:ext cx="3637178" cy="384048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D9A0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1578" y="25603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9A0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VIRAL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1578" y="306324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user en amène k &gt; 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1578" y="365760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CLÉ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51578" y="39319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Coefficient viral 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51578" y="44805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FIT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51578" y="4754880"/>
            <a:ext cx="3088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 fit — deck dit 100% referrals, k pas mesuré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51578" y="5623560"/>
            <a:ext cx="3088538" cy="365760"/>
          </a:xfrm>
          <a:prstGeom prst="roundRect">
            <a:avLst>
              <a:gd name="adj" fmla="val 20000"/>
            </a:avLst>
          </a:prstGeom>
          <a:solidFill>
            <a:srgbClr val="D9A04D"/>
          </a:solidFill>
          <a:ln/>
        </p:spPr>
      </p:sp>
      <p:sp>
        <p:nvSpPr>
          <p:cNvPr id="29" name="Text 27"/>
          <p:cNvSpPr/>
          <p:nvPr/>
        </p:nvSpPr>
        <p:spPr>
          <a:xfrm>
            <a:off x="4551578" y="562356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À MESURER (Sprint 9)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7317" y="2286000"/>
            <a:ext cx="3637178" cy="384048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5C504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71637" y="25603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371637" y="306324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&gt; CAC, ratio constant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71637" y="365760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CLÉ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71637" y="393192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/ CAC ≥ 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71637" y="44805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FIT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371637" y="4754880"/>
            <a:ext cx="3088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B si LF2 fail — Google Ads 1k$/mois M9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371637" y="5623560"/>
            <a:ext cx="3088538" cy="365760"/>
          </a:xfrm>
          <a:prstGeom prst="roundRect">
            <a:avLst>
              <a:gd name="adj" fmla="val 20000"/>
            </a:avLst>
          </a:prstGeom>
          <a:solidFill>
            <a:srgbClr val="5C5046"/>
          </a:solidFill>
          <a:ln/>
        </p:spPr>
      </p:sp>
      <p:sp>
        <p:nvSpPr>
          <p:cNvPr id="38" name="Text 36"/>
          <p:cNvSpPr/>
          <p:nvPr/>
        </p:nvSpPr>
        <p:spPr>
          <a:xfrm>
            <a:off x="8371637" y="562356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📋 PLAN B (M9)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EXPÉRIMENTATION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Tester Maxime, Charlyse, JP — sans tout coder.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637178" cy="402336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5603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5603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L4a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63040" y="256032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CONCIERGE MVP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6324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 : Maxime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35661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384048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Eliot + Joanel font analyse batch propriétés à la main pendant 4 sem.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9D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CRITÈRE GO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525780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9 propriétés soumises, NPS ≥ 8, Stripe 200 $/mois accepté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5943600"/>
            <a:ext cx="3088538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943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77258" y="2286000"/>
            <a:ext cx="3637178" cy="402336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1578" y="25603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51578" y="25603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L4b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83098" y="256032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WIZARD OF OZ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51578" y="306324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 : Charlyse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51578" y="35661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51578" y="384048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sync Matrix/GED affichée. Eliot fait le sync manuel 30 min derrière.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51578" y="498348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9D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CRITÈRE GO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51578" y="525780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5 prospects créés, sync perçu magique, Stripe 100 $/mois accepté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51578" y="5943600"/>
            <a:ext cx="3088538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33" name="Text 31"/>
          <p:cNvSpPr/>
          <p:nvPr/>
        </p:nvSpPr>
        <p:spPr>
          <a:xfrm>
            <a:off x="4551578" y="5943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97317" y="2286000"/>
            <a:ext cx="3637178" cy="4023360"/>
          </a:xfrm>
          <a:prstGeom prst="roundRect">
            <a:avLst>
              <a:gd name="adj" fmla="val 377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71637" y="25603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C45A3A"/>
          </a:solidFill>
          <a:ln/>
        </p:spPr>
      </p:sp>
      <p:sp>
        <p:nvSpPr>
          <p:cNvPr id="36" name="Text 34"/>
          <p:cNvSpPr/>
          <p:nvPr/>
        </p:nvSpPr>
        <p:spPr>
          <a:xfrm>
            <a:off x="8371637" y="25603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L4c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03157" y="256032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SMOKE TEST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71637" y="306324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 : JP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71637" y="356616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71637" y="384048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 /agence + formulaire « demande démo ». Pas d'agence MVP code.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71637" y="498348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4A9D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CRITÈRE GO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71637" y="525780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5 demandes qualifiées, ≥ 3 calls bookés, ≥ 1 LOI signée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71637" y="5943600"/>
            <a:ext cx="3088538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44" name="Text 42"/>
          <p:cNvSpPr/>
          <p:nvPr/>
        </p:nvSpPr>
        <p:spPr>
          <a:xfrm>
            <a:off x="8371637" y="5943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GOUVERNANCE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Pivot or Persevere. Trimestriel. 90 minutes.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029200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CADENCE 2026-2027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C45A3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août 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08760" y="31272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 Joanel + cohort 2026-06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576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C45A3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57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3611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nov 2026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858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Décision LF1, LF2, LF3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C45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891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08760" y="4343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fév 2027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508760" y="4590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Activer plan B paid si k &lt; 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0" y="51206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C45A3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120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087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mai 2027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508760" y="5321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Bilan Year 1 + plan Year 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0" y="2286000"/>
            <a:ext cx="5608015" cy="393192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23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TYPES DE PIVOTS (Ch8)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Zoom-in (feature → produit)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Zoom-out (produit → feature)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943600" y="3429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Customer segment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69680" y="3429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Customer need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436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Platform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6968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Business architecture (B2B↔B2C)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Value capture (monétisation)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86968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Engine of growth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 Channel (distribution)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86968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 Technology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PLAN D'ACTION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corrections Lean — Sprints 8 à 12.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7627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762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Leap-of-faith documentées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0" y="2148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07040" y="217627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19" name="Text 17"/>
          <p:cNvSpPr/>
          <p:nvPr/>
        </p:nvSpPr>
        <p:spPr>
          <a:xfrm>
            <a:off x="10607040" y="21762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272491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724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26974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funnel mensuel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210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0" y="26974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1j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607040" y="272491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27249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27355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2735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25880" y="3246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Pivot/Persevere trimestriel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21040" y="3246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S9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326880" y="3246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0.5j/trim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7355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35" name="Text 33"/>
          <p:cNvSpPr/>
          <p:nvPr/>
        </p:nvSpPr>
        <p:spPr>
          <a:xfrm>
            <a:off x="10607040" y="327355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" y="382219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32588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MVP par persona (Concierge/WoZ/Smoke)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32104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S10-12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326880" y="3794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5j chacun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0607040" y="382219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43" name="Text 41"/>
          <p:cNvSpPr/>
          <p:nvPr/>
        </p:nvSpPr>
        <p:spPr>
          <a:xfrm>
            <a:off x="10607040" y="38221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29768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437083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43708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25880" y="4343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Viral coefficient k + plan B paid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21040" y="4343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S9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326880" y="4343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2j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607040" y="437083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51" name="Text 49"/>
          <p:cNvSpPr/>
          <p:nvPr/>
        </p:nvSpPr>
        <p:spPr>
          <a:xfrm>
            <a:off x="10607040" y="43708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484632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4360" y="491947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54" name="Text 52"/>
          <p:cNvSpPr/>
          <p:nvPr/>
        </p:nvSpPr>
        <p:spPr>
          <a:xfrm>
            <a:off x="594360" y="49194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L6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325880" y="4892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4 sem → 1 sem + CI/CD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321040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S9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326880" y="4892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3j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10607040" y="491947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59" name="Text 57"/>
          <p:cNvSpPr/>
          <p:nvPr/>
        </p:nvSpPr>
        <p:spPr>
          <a:xfrm>
            <a:off x="10607040" y="49194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539496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94360" y="5468112"/>
            <a:ext cx="548640" cy="310896"/>
          </a:xfrm>
          <a:prstGeom prst="roundRect">
            <a:avLst>
              <a:gd name="adj" fmla="val 17647"/>
            </a:avLst>
          </a:prstGeom>
          <a:solidFill>
            <a:srgbClr val="C45A3A"/>
          </a:solidFill>
          <a:ln/>
        </p:spPr>
      </p:sp>
      <p:sp>
        <p:nvSpPr>
          <p:cNvPr id="62" name="Text 60"/>
          <p:cNvSpPr/>
          <p:nvPr/>
        </p:nvSpPr>
        <p:spPr>
          <a:xfrm>
            <a:off x="594360" y="54681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L7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325880" y="5440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5 Whys + canal #incidents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321040" y="5440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S9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9326880" y="5440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1h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607040" y="5468112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4A9D5C"/>
          </a:solidFill>
          <a:ln/>
        </p:spPr>
      </p:sp>
      <p:sp>
        <p:nvSpPr>
          <p:cNvPr id="67" name="Text 65"/>
          <p:cNvSpPr/>
          <p:nvPr/>
        </p:nvSpPr>
        <p:spPr>
          <a:xfrm>
            <a:off x="10607040" y="54681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FAIT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57200" y="6126480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4DDD4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61264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effort : ~22 j-h étalés Sprints 8 à 12. Spec écrite. À implémenter maintenant.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CADENCE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4 semaines → 1 semaine + CD.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Production System (Ch9 Ries) : small batches = feedback rapide.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651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LUN 9h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0632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Planning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3375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min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2498" y="24688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21098" y="2651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20" name="Text 18"/>
          <p:cNvSpPr/>
          <p:nvPr/>
        </p:nvSpPr>
        <p:spPr>
          <a:xfrm>
            <a:off x="4521098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MAR-VEN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1098" y="30632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async Slack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21098" y="33375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min/pers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27797" y="24688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56397" y="2651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25" name="Text 23"/>
          <p:cNvSpPr/>
          <p:nvPr/>
        </p:nvSpPr>
        <p:spPr>
          <a:xfrm>
            <a:off x="8356397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 14h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56397" y="30632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technique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6397" y="33375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8404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40233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023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 16h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5800" y="4434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Review + demo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" y="47091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92498" y="38404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21098" y="40233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35" name="Text 33"/>
          <p:cNvSpPr/>
          <p:nvPr/>
        </p:nvSpPr>
        <p:spPr>
          <a:xfrm>
            <a:off x="4521098" y="4023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 16h30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21098" y="4434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Retro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21098" y="47091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min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27797" y="3840480"/>
            <a:ext cx="3606698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56397" y="40233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40" name="Text 38"/>
          <p:cNvSpPr/>
          <p:nvPr/>
        </p:nvSpPr>
        <p:spPr>
          <a:xfrm>
            <a:off x="8356397" y="4023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 17h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56397" y="4434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Happiness Index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356397" y="470916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349240"/>
            <a:ext cx="11277295" cy="914400"/>
          </a:xfrm>
          <a:prstGeom prst="roundRect">
            <a:avLst>
              <a:gd name="adj" fmla="val 15000"/>
            </a:avLst>
          </a:prstGeom>
          <a:solidFill>
            <a:srgbClr val="F4DDD4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534924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Deployment : commit → CI tests → Vercel preview + Supabase migration check + iOS TestFlight nightly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RÉSILIENCE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Whys — chaque incident, on creuse.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At the root of every seemingly technical problem is actually a human problem » (Ch11 Ries)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2423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Pourquoi le SMS n'est pas parti 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2423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Twilio API a renvoyé 429 rate limit.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Pourquoi le rate limit 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n8n a déclenché 200 SMS en 1 sec à minuit pile.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97280" y="3703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Pourquoi 200 d'un coup 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Cron sans backoff/spread temporel.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457200" cy="45720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9728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Pourquoi pas de backoff ?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4343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Spec Sprint 2 jamais reconsidérée depuis 6 mois.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029200"/>
            <a:ext cx="457200" cy="457200"/>
          </a:xfrm>
          <a:prstGeom prst="ellipse">
            <a:avLst/>
          </a:prstGeom>
          <a:solidFill>
            <a:srgbClr val="C43A3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97280" y="4983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Pourquoi jamais reconsidérée ?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17920" y="4983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Pas de processus de revue post-incident. CAUSE HUMAINE.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852160"/>
            <a:ext cx="11277295" cy="640080"/>
          </a:xfrm>
          <a:prstGeom prst="roundRect">
            <a:avLst>
              <a:gd name="adj" fmla="val 21429"/>
            </a:avLst>
          </a:prstGeom>
          <a:solidFill>
            <a:srgbClr val="F4DDD4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8521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humaine : créer canal Slack #klaris-incidents + rotation on-call hebdomadaire (4 fondateurs).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828800" y="164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Stratégie Lean · Mai 2026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1441887" y="146304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441887" y="146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658417" y="178491"/>
            <a:ext cx="38039" cy="3803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820095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6400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4DD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40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ROADMAP LEAN  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0058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 — décisions clés trimestrielles.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14400" y="3108960"/>
            <a:ext cx="9905695" cy="4572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L1-L7 livrées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53664" y="2971800"/>
            <a:ext cx="365760" cy="3657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18" name="Text 16"/>
          <p:cNvSpPr/>
          <p:nvPr/>
        </p:nvSpPr>
        <p:spPr>
          <a:xfrm>
            <a:off x="2659304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/ M3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9304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Août 2026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9304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1ère cohort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3-5 courtiers solo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30088" y="2971800"/>
            <a:ext cx="365760" cy="3657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2" name="Text 20"/>
          <p:cNvSpPr/>
          <p:nvPr/>
        </p:nvSpPr>
        <p:spPr>
          <a:xfrm>
            <a:off x="5135728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 / M6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35728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 2026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35728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Décision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LF1 LF2 LF3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06511" y="2971800"/>
            <a:ext cx="365760" cy="3657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26" name="Text 24"/>
          <p:cNvSpPr/>
          <p:nvPr/>
        </p:nvSpPr>
        <p:spPr>
          <a:xfrm>
            <a:off x="7612151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 / M9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12151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Fév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2151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B paid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k &lt; 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682935" y="2971800"/>
            <a:ext cx="365760" cy="365760"/>
          </a:xfrm>
          <a:prstGeom prst="ellipse">
            <a:avLst/>
          </a:prstGeom>
          <a:solidFill>
            <a:srgbClr val="C45A3A"/>
          </a:solidFill>
          <a:ln/>
        </p:spPr>
      </p:sp>
      <p:sp>
        <p:nvSpPr>
          <p:cNvPr id="30" name="Text 28"/>
          <p:cNvSpPr/>
          <p:nvPr/>
        </p:nvSpPr>
        <p:spPr>
          <a:xfrm>
            <a:off x="10088575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Q4 / M12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88575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 2027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88575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Bilan Y1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Y2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846320"/>
            <a:ext cx="11277295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45A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RÈGLES DE DÉCISION (validées équipe)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530352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3/3 GO  →  Persevere full · accélérer ce qui marche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2/3 GO + 1 AMBER  →  Persevere avec mitigations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2/3 GO + 1 NO-GO  →  Pivot ciblé sur la dimension qui casse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1/3 GO ou moins  →  Pivot stratégique global · refaire JTBD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C45A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AF7F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 va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1094415" y="32004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C45A3A"/>
          </a:solidFill>
          <a:ln/>
        </p:spPr>
      </p:sp>
      <p:sp>
        <p:nvSpPr>
          <p:cNvPr id="5" name="Text 3"/>
          <p:cNvSpPr/>
          <p:nvPr/>
        </p:nvSpPr>
        <p:spPr>
          <a:xfrm>
            <a:off x="11094415" y="320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3500" dirty="0"/>
          </a:p>
        </p:txBody>
      </p:sp>
      <p:sp>
        <p:nvSpPr>
          <p:cNvPr id="6" name="Shape 4"/>
          <p:cNvSpPr/>
          <p:nvPr/>
        </p:nvSpPr>
        <p:spPr>
          <a:xfrm>
            <a:off x="11568074" y="390449"/>
            <a:ext cx="83210" cy="832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828800"/>
            <a:ext cx="2682164" cy="3108960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49642" y="2103120"/>
            <a:ext cx="1097280" cy="1097280"/>
          </a:xfrm>
          <a:prstGeom prst="ellipse">
            <a:avLst/>
          </a:prstGeom>
          <a:solidFill>
            <a:srgbClr val="F4DDD4"/>
          </a:solidFill>
          <a:ln w="25400">
            <a:solidFill>
              <a:srgbClr val="C45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9642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231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Eliot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BD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06908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4297680"/>
            <a:ext cx="23164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L1, L2, L5, OACIQ outreach, P/P facilitation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2244" y="1828800"/>
            <a:ext cx="2682164" cy="3108960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686" y="2103120"/>
            <a:ext cx="1097280" cy="1097280"/>
          </a:xfrm>
          <a:prstGeom prst="ellipse">
            <a:avLst/>
          </a:prstGeom>
          <a:solidFill>
            <a:srgbClr val="F4DDD4"/>
          </a:solidFill>
          <a:ln w="25400">
            <a:solidFill>
              <a:srgbClr val="C45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686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505124" y="3337560"/>
            <a:ext cx="231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Dennis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05124" y="370332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05124" y="406908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05124" y="4297680"/>
            <a:ext cx="23164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008-009, CI/CD, Sentry, archi-challenge R1-R7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7288" y="1828800"/>
            <a:ext cx="2682164" cy="3108960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79730" y="2103120"/>
            <a:ext cx="1097280" cy="1097280"/>
          </a:xfrm>
          <a:prstGeom prst="ellipse">
            <a:avLst/>
          </a:prstGeom>
          <a:solidFill>
            <a:srgbClr val="F4DDD4"/>
          </a:solidFill>
          <a:ln w="25400">
            <a:solidFill>
              <a:srgbClr val="C45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9730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370168" y="3337560"/>
            <a:ext cx="231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Walkens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70168" y="370332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· Brand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70168" y="406908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70168" y="4297680"/>
            <a:ext cx="23164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 /agence (smoke test JP), DA Klaris cohérence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331" y="1828800"/>
            <a:ext cx="2682164" cy="3108960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44773" y="2103120"/>
            <a:ext cx="1097280" cy="1097280"/>
          </a:xfrm>
          <a:prstGeom prst="ellipse">
            <a:avLst/>
          </a:prstGeom>
          <a:solidFill>
            <a:srgbClr val="F4DDD4"/>
          </a:solidFill>
          <a:ln w="25400">
            <a:solidFill>
              <a:srgbClr val="C45A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44773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9235211" y="3337560"/>
            <a:ext cx="2316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Seydou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235211" y="370332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· Mobile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235211" y="406908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45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235211" y="4297680"/>
            <a:ext cx="23164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TestFlight nightly, CRDT iOS (R4), NPS UI Cupertino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303520"/>
            <a:ext cx="11277295" cy="914400"/>
          </a:xfrm>
          <a:prstGeom prst="roundRect">
            <a:avLst>
              <a:gd name="adj" fmla="val 15000"/>
            </a:avLst>
          </a:prstGeom>
          <a:solidFill>
            <a:srgbClr val="C45A3A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3035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7F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8 commence lundi prochain. 1ère cohort 2026-06 = priorité absolue.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50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KLARIS · Stratégie Lean Startup · Mai 2026 · Eric Ries (2011) · ISBN 978-0-307-88791-7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Klaris — Stratégie Lean Startup</dc:title>
  <dc:subject>Présentation aux 4 fondateurs</dc:subject>
  <dc:creator>Eliot Alanmanou — Klaris (Next Move Inc.)</dc:creator>
  <cp:lastModifiedBy>Eliot Alanmanou — Klaris (Next Move Inc.)</cp:lastModifiedBy>
  <cp:revision>1</cp:revision>
  <dcterms:created xsi:type="dcterms:W3CDTF">2026-05-11T04:14:53Z</dcterms:created>
  <dcterms:modified xsi:type="dcterms:W3CDTF">2026-05-11T04:14:53Z</dcterms:modified>
</cp:coreProperties>
</file>