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NextMove — State of the 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2E8DC"/>
                </a:solidFill>
                <a:latin typeface="Helvetica Neue"/>
              </a:rPr>
              <a:t>Pré-démo client · 13 mai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Helvetica Neue"/>
              </a:rPr>
              <a:t>Pour Walkens, Eliot, Seydou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8DC"/>
                </a:solidFill>
                <a:latin typeface="Helvetica Neue"/>
              </a:rPr>
              <a:t>Préparé par Dennis · MVP Adjointe IA pour courtiers immobiliers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Où on en est, en 30 secondes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F2E"/>
                </a:solidFill>
                <a:latin typeface="Helvetica Neue"/>
              </a:rPr>
              <a:t>Le MVP est fonctionnel et prêt à démontrer.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Helvetica Neue"/>
              </a:rPr>
              <a:t>•  12 / 12 features cœur du PRD livrées (intake SMS, qualification IA, relances, briefing, Loi 25, dashboard, multi-tenant foundation)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Helvetica Neue"/>
              </a:rPr>
              <a:t>•  8 workflows n8n actifs qui se coordonnent en production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Helvetica Neue"/>
              </a:rPr>
              <a:t>•  Bonus : voice assistant Telegram + refactor conversations source unique + dedup atomique S5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Helvetica Neue"/>
              </a:rPr>
              <a:t>•  BD seedée avec 12 prospects réalistes (Anjou / Mercier / Laval) — dashboard "vivant" pour la démo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Helvetica Neue"/>
              </a:rPr>
              <a:t>•  2 démos client cette semaine : Maxime + Joanel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779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F2E"/>
                </a:solidFill>
                <a:latin typeface="Helvetica Neue"/>
              </a:rPr>
              <a:t>Risques identifiés : 3 gaps partiels (bilingue non testé E2E, QA agent inactif, métriques business absentes) — tous adressables post-démo.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8 workflows n8n · Supabase ca-central-1 · Claude Sonnet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Helvetica Neue"/>
              </a:rPr>
              <a:t>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286000" cy="64008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SMS Twilio
+1 272-282-5614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2286000" cy="640080"/>
          </a:xfrm>
          <a:prstGeom prst="rect">
            <a:avLst/>
          </a:prstGeom>
          <a:solidFill>
            <a:srgbClr val="2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Telegram
@nextmove_voice_bot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Helvetica Neue"/>
              </a:rPr>
              <a:t>WORKFLOWS n8n (auto-host)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286000" cy="64008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08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intake_agent_v2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2E8DC"/>
                </a:solidFill>
                <a:latin typeface="Helvetica Neue"/>
              </a:rPr>
              <a:t>43 nodes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463040"/>
            <a:ext cx="2286000" cy="64008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508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voice_assistant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783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2E8DC"/>
                </a:solidFill>
                <a:latin typeface="Helvetica Neue"/>
              </a:rPr>
              <a:t>13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286000"/>
            <a:ext cx="2286000" cy="64008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relances_scheduler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606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2E8DC"/>
                </a:solidFill>
                <a:latin typeface="Helvetica Neue"/>
              </a:rPr>
              <a:t>18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286000"/>
            <a:ext cx="2286000" cy="64008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331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briefing_quotidien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06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2E8DC"/>
                </a:solidFill>
                <a:latin typeface="Helvetica Neue"/>
              </a:rPr>
              <a:t>9 nodes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108960"/>
            <a:ext cx="2286000" cy="64008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154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notify_courtier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429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2E8DC"/>
                </a:solidFill>
                <a:latin typeface="Helvetica Neue"/>
              </a:rPr>
              <a:t>7 nodes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108960"/>
            <a:ext cx="2286000" cy="64008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154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error_handler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429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2E8DC"/>
                </a:solidFill>
                <a:latin typeface="Helvetica Neue"/>
              </a:rPr>
              <a:t>4 nodes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188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Helvetica Neue"/>
              </a:rPr>
              <a:t>DATA · Supabase ca-central-1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1463040"/>
            <a:ext cx="3200400" cy="3108960"/>
          </a:xfrm>
          <a:prstGeom prst="rect">
            <a:avLst/>
          </a:prstGeom>
          <a:solidFill>
            <a:srgbClr val="F2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12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92024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prospects · 12 rows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conversations · 68 msgs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besoins_acheteur · 8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besoins_vendeur · 2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relances · 3 pending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blacklist · 2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briefings · 6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relance_templates · 7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F1F2E"/>
                </a:solidFill>
                <a:latin typeface="Helvetica Neue"/>
              </a:rPr>
              <a:t>•  courtiers ·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Helvetica Neue"/>
              </a:rPr>
              <a:t>INTELLIGENCE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12080"/>
            <a:ext cx="365760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Claude Sonnet 4.6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qualification + résumé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212080"/>
            <a:ext cx="365760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Whisper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voice → texte (FR)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212080"/>
            <a:ext cx="365760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OpenAI TTS · nova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texte → voice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Features cœur du PRD · 12 / 12 livrées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Sources : prd.md · SPEC_MVP.md · nsa_courtier_ia_etat_jalons.md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SMS intake bidirectionnel Twilio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intake_agent_v2 · 43 nodes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Qualification IA Claude FR-QC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score_chaleur 0-10 · resume_ia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Schema BD multi-tables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12 tables · 68 msgs seedés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574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Relances auto J+2 / J+5 / nudge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relances_scheduler · 7 templates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889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Briefing quotidien 7h30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089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briefing_quotidien · 6 envoyés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7889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Loi 25 — STOP / OPT-OUT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table blacklist · garde-fou G2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204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Dashboard pipeline temps réel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40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index.html live · Supabase 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47472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5204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Multi-tenant (foundation)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40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courtier_id partout · 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0624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519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Data residency Canada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720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Supabase ca-central-1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0624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2519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Garde-fous comportement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G2 G4 G5 · pause_relances · lock_until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3776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983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Error handling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error_handler + notify_courtier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937760"/>
            <a:ext cx="274320" cy="64008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983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Log conversations centralisé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log_conversation · source unique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Features bonus · hors PRD initial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Différenciation forte vs concurrents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" cy="11430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Voice assistant Telegram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Bot voice avec Claude tool calling + mémoire conversationnelle. Joanel pose une question vocale, reçoit un audio de réponse. Demande contextuelle ("et leur budget ?") supportée.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voice_assistant · 13 nodes · ~10s latence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37160" cy="11430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Refactor conversations source unique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Migration de n8n_chat_histories (legacy) vers table conversations avec courtier_id, index timeline, valeurs canoniques de role documentées. Dashboard aligné.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Commits ea712cf → c76dd50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137160" cy="11430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Dedup / agrégation SMS atomique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Refactor du flux intake pour gérer les rafales SMS (debounce 5s) et la dedup atomique via CTE Postgres avec RETURNING (évite duplicates en concurrence).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Commit dccd93b · scénario S5 validé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137160" cy="11430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Seed BD démo réaliste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12 personas variés FR-QC (Anjou/Mercier/Laval) avec conversations multi-tours, 3 relances planifiées, 2 blacklists, statuts cohérents. Le dashboard est "vivant" en démo.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12 prospects · 68 conversations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Gaps partiels · présents mais non validés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Aucun bloquant pour la démo · tous adressables post-démo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457200" cy="36576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Bilingue FR / 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Templates EN existent (inactif_j2_en) + langue_preferee. Pas testé E2E avec un prospect anglo.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5331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5C3F"/>
                </a:solidFill>
                <a:latin typeface="Helvetica Neue"/>
              </a:rPr>
              <a:t>→ Démo en FR seulement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30552"/>
            <a:ext cx="457200" cy="36576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QA agent evaluator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31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Workflow next_move_qa_evaluator créé (14 nodes) mais inactif. 0 eval_results.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3055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5C3F"/>
                </a:solidFill>
                <a:latin typeface="Helvetica Neue"/>
              </a:rPr>
              <a:t>→ Hors démo. Activer post-démo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07792"/>
            <a:ext cx="457200" cy="36576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88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Métriques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08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Pas de dashboard analytique (conv %, latence, ROI). Données présentes en DB.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0779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5C3F"/>
                </a:solidFill>
                <a:latin typeface="Helvetica Neue"/>
              </a:rPr>
              <a:t>→ Sprint suivant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85032"/>
            <a:ext cx="457200" cy="36576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21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566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OACIQ compliance 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886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Dépend du contenu des messages générés par Claude. Pas de validation automatique.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8503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5C3F"/>
                </a:solidFill>
                <a:latin typeface="Helvetica Neue"/>
              </a:rPr>
              <a:t>→ À valider avec courtier réel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457200" cy="3657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98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Audit logs dédiés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Pas de table audit_logs. n8n_executions + conversations servent d'audit.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6227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5C3F"/>
                </a:solidFill>
                <a:latin typeface="Helvetica Neue"/>
              </a:rPr>
              <a:t>→ Probablement suffisant MVP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9512"/>
            <a:ext cx="457200" cy="365760"/>
          </a:xfrm>
          <a:prstGeom prst="rect">
            <a:avLst/>
          </a:prstGeom>
          <a:solidFill>
            <a:srgbClr val="D99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76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Latence &lt;2s SMS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440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Observé 2-5s SMS, ~10s voice. Twilio + Claude ajoutent du réseau.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3951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5C3F"/>
                </a:solidFill>
                <a:latin typeface="Helvetica Neue"/>
              </a:rPr>
              <a:t>→ Mentionner en démo si besoin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Hors scope · jamais commencé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Transparent avec le client si la question vient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37160" cy="10058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✕  Voice cloning de Joanel pour TTS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On utilise une voix synthétique standard (OpenAI nova). Voice cloning = scope post-validation marché.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37160" cy="10058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✕  Multi-tenant UI complet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Foundation prête (courtier_id partout), mais pas de sélecteur courtier dans le dashboard. Single-tenant pour le MVP.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137160" cy="10058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F2E"/>
                </a:solidFill>
                <a:latin typeface="Helvetica Neue"/>
              </a:rPr>
              <a:t>✕  Application mobile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Focus web + Telegram. Pas d'app iOS/Android. Roadmap si demande validée par 5+ courtiers pilotes.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État de la base · seed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Dashboard "vivant" en démo grâce au 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prospects seedés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3 chauds, 4 en cours, 3 relances, 2 STOP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7373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Multi-tours réalistes FR-QC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besoins remplis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8 acheteurs + 2 vendeurs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7373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relances planifiées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j+2 · j+5 · nudge chaud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blacklists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Loi 25 + CASL respectés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74904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114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templates relances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FR + EN, multi-canaux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4904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briefings envoyés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Cron 7h30 historique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3749040"/>
            <a:ext cx="2743200" cy="210312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4114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C45C3F"/>
                </a:solidFill>
                <a:latin typeface="Helvetica Neue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workflows n8n actifs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2E8DC"/>
                </a:solidFill>
                <a:latin typeface="Helvetica Neue"/>
              </a:rPr>
              <a:t>Coordonnés en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Points forts à mettre en avant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Ce sur quoi on appuie face à Maxime &amp; Joanel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Helvetica Neue"/>
              </a:rPr>
              <a:t>✓  Architecture solide : 8 workflows coordonnés (intake, relances, briefing, voice, error, notify, log, qa)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Helvetica Neue"/>
              </a:rPr>
              <a:t>✓  Données réalistes : 12 prospects FR-QC seedés → dashboard "vivant" dès l'ouverture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Helvetica Neue"/>
              </a:rPr>
              <a:t>✓  Conformité by design : Loi 25 résidence Canada, STOP atomique, garde-fous humain &lt;24h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Helvetica Neue"/>
              </a:rPr>
              <a:t>✓  Voice assistant — différenciation : la plupart des concurrents font juste SMS. On a SMS + voice.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Helvetica Neue"/>
              </a:rPr>
              <a:t>✓  Multi-channel cohérent : SMS prospects + voice courtier — couvre les 2 personas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Helvetica Neue"/>
              </a:rPr>
              <a:t>✓  Foundation multi-tenant : prête pour passage à 50+ courtiers (courtier_id partout, RBAC bot voix)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Helvetica Neue"/>
              </a:rPr>
              <a:t>✓  Évolutivité prouvée : refactor conversations source unique fait sans downtime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Points faibles · objections anticipées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Réponses préparées pour la démo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45C3F"/>
                </a:solidFill>
                <a:latin typeface="Helvetica Neue"/>
              </a:rPr>
              <a:t>« Et si on a 50 courtiers 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Foundation multi-tenant prête (courtier_id sur toutes les tables, RBAC bot voix prévu). Sélecteur courtier dans l'UI : 1-2 sprints.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3716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45C3F"/>
                </a:solidFill>
                <a:latin typeface="Helvetica Neue"/>
              </a:rPr>
              <a:t>« Quel est le ROI / taux de conversion ?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Data disponible en DB. Dashboard analytique : sprint suivant. On peut sortir un rapport custom sous 48h sur demande.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3716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45C3F"/>
                </a:solidFill>
                <a:latin typeface="Helvetica Neue"/>
              </a:rPr>
              <a:t>« C'est quoi la latence SMS ?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2-5s end-to-end (Twilio + Claude + Supabase). Voice ~10s (Whisper + Claude + TTS). Acceptable pour conversation asynchrone.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13716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159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45C3F"/>
                </a:solidFill>
                <a:latin typeface="Helvetica Neue"/>
              </a:rPr>
              <a:t>« Comment vous testez la qualité du modèle ?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Workflow QA evaluator existe (14 nodes), pas encore activé sur cohorte. Évaluation manuelle par scénario pour l'instant.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37160" cy="9144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45C3F"/>
                </a:solidFill>
                <a:latin typeface="Helvetica Neue"/>
              </a:rPr>
              <a:t>« Et si Claude se trompe / hallucine ?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 Neue"/>
              </a:rPr>
              <a:t>Garde-fous : prospect créé tôt avec statut en_qualification, courtier visible en dashboard, mode "humain prend la main" (pause_relances) en 1 clic.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Workflows n8n actifs · détail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Tous coordonnés via Supabase comme bus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" cy="5943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intake_agent_v2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43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34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SMS → Claude → DB → Reply Twilio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Dedup atomique + debounce + garde-fous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37160" cy="5943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voice_assistant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13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874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Telegram voice → Claude tools → audio 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148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Mémoire conversationnelle + Supabase Tool natif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137160" cy="5943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871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relances_scheduler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18 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514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Cron · matrice de relances · J+2 J+5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7889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lock_until pour idempotence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137160" cy="5943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272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briefing_quotidien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9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1546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Cron 7h30 · résumé pour courtier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429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Email + log en table briefings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40"/>
            <a:ext cx="137160" cy="5943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673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notify_courtier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69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7 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794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Alertes chaud / urgent → courtier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069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SMS + email selon préférence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137160" cy="5943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0740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error_handler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09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4 nodes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434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Capture erreurs cross-workflow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709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Alerte Slack au dev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137160" cy="594360"/>
          </a:xfrm>
          <a:prstGeom prst="rect">
            <a:avLst/>
          </a:prstGeom>
          <a:solidFill>
            <a:srgbClr val="2E7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0474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log_conversation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49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2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0749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Append-only conversations 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349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Source unique audit + 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69280"/>
            <a:ext cx="137160" cy="59436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875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F2E"/>
                </a:solidFill>
                <a:latin typeface="Helvetica Neue"/>
              </a:rPr>
              <a:t>qa_evaluator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89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14 nodes (inactif)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5715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Helvetica Neue"/>
              </a:rPr>
              <a:t>Eval batchée du modèle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989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45C3F"/>
                </a:solidFill>
                <a:latin typeface="Helvetica Neue"/>
              </a:rPr>
              <a:t>À activer post-démo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Roadmap post-démo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8DC"/>
                </a:solidFill>
                <a:latin typeface="Helvetica Neue"/>
              </a:rPr>
              <a:t>Priorisation selon feedback Maxime &amp; Joanel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749039" cy="45720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Sprint immédiat (1-2 semaines)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Activer QA evaluator + premier batch d'éval (passing threshold ≥70)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Ajouter les 3 tools restants au voice bot : conversations / besoins / relances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Migration vers memoryPostgresChat (mémoire persistante)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Validation E2E bilingue avec un prospect anglo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7" y="1234440"/>
            <a:ext cx="3749039" cy="457200"/>
          </a:xfrm>
          <a:prstGeom prst="rect">
            <a:avLst/>
          </a:prstGeom>
          <a:solidFill>
            <a:srgbClr val="2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7" y="13258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Sprint moyen (1 mois)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7" y="182880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UI sélecteur courtier dans le dashboard (multi-tenant)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Dashboard analytique (conv %, latence, leads chauds)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Onboarding 2-3 courtiers pilotes en réel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Voice bot — actions write (créer relance, marquer perdu)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74" y="1234440"/>
            <a:ext cx="3749039" cy="457200"/>
          </a:xfrm>
          <a:prstGeom prst="rect">
            <a:avLst/>
          </a:prstGeom>
          <a:solidFill>
            <a:srgbClr val="0F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4" y="13258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Vision (3-6 mois)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4" y="182880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App mobile native (si 5+ pilotes valident le besoin)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Voice cloning de la voix du courtier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Briefing audio quotidien proactif (post-bot voix Telegram)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Helvetica Neue"/>
              </a:rPr>
              <a:t>•  Intégration calendrier (rendez-vous) + DocuSign (contrats)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elvetica Neue"/>
              </a:rPr>
              <a:t>NextMove · State of the Union · 13 mai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Helvetica Neue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17320"/>
            <a:ext cx="1828800" cy="45720"/>
          </a:xfrm>
          <a:prstGeom prst="rect">
            <a:avLst/>
          </a:prstGeom>
          <a:solidFill>
            <a:srgbClr val="C4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E8DC"/>
                </a:solidFill>
                <a:latin typeface="Helvetica Neue"/>
              </a:rPr>
              <a:t>Cette semaine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Helvetica Neue"/>
              </a:rPr>
              <a:t>•  Régénérer le token Telegram bot (exposé en session de dev) — Dennis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Helvetica Neue"/>
              </a:rPr>
              <a:t>•  Enregistrer la démo Loom en solo (backup au cas où) — Dennis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Helvetica Neue"/>
              </a:rPr>
              <a:t>•  Démo live Maxime — date à confirmer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Helvetica Neue"/>
              </a:rPr>
              <a:t>•  Démo live Joanel — date à confirmer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E8DC"/>
                </a:solidFill>
                <a:latin typeface="Helvetica Neue"/>
              </a:rPr>
              <a:t>Décisions ouvertes pour l'équipe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Helvetica Neue"/>
              </a:rPr>
              <a:t>•  Priorisation roadmap sprint immédiat : QA evaluator vs 3 tools voice vs memoryPostgres 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Helvetica Neue"/>
              </a:rPr>
              <a:t>•  Stratégie d'onboarding pilotes : Maxime/Joanel uniquement ou élargir 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Helvetica Neue"/>
              </a:rPr>
              <a:t>•  Pricing + monétisation : modèle SaaS par courtier ? Par lead qualifié ? À discuter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8DC"/>
                </a:solidFill>
                <a:latin typeface="Helvetica Neue"/>
              </a:rPr>
              <a:t>On en discute en sync. Questions / objections bienvenues.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