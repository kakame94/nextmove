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Helvetica Neue"/>
              </a:rPr>
              <a:t>Démo client NextMove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14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2E8DC"/>
                </a:solidFill>
                <a:latin typeface="Helvetica Neue"/>
              </a:rPr>
              <a:t>Storyboard 10-12 min · live + Loom solo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Helvetica Neue"/>
              </a:rPr>
              <a:t>Cibles : Maxime Belma · Joanel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E8DC"/>
                </a:solidFill>
                <a:latin typeface="Helvetica Neue"/>
              </a:rPr>
              <a:t>Préparé par Dennis · 13 mai 2026 · MVP Adjointe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Pre-flight · 15 min avant la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Vérifie matériel + stack +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F2E"/>
                </a:solidFill>
                <a:latin typeface="Helvetica Neue"/>
              </a:rPr>
              <a:t>Matériel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Laptop chargé, mode « Ne pas déranger » 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Téléphone perso + Telegram sur @nextmove_voice_bot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Téléphone testeuse pour SMS vers +1 272 282 5614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Wi-Fi solide + plan B 4G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F2E"/>
                </a:solidFill>
                <a:latin typeface="Helvetica Neue"/>
              </a:rPr>
              <a:t>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Server local lancé : python3 -m http.server 8765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Workflow next_move_intake_agent_v2 → actif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Workflow next_move_voice_assistant → actif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Test rapide : voice msg → reply en &lt;15s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F2E"/>
                </a:solidFill>
                <a:latin typeface="Helvetica Neue"/>
              </a:rPr>
              <a:t>URLs dashboard selon la démo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09160"/>
            <a:ext cx="137160" cy="64008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F2E"/>
                </a:solidFill>
                <a:latin typeface="Helvetica Neue"/>
              </a:rPr>
              <a:t>Démo Maxime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http://localhost:8765/index.html?courtier=Maxime%20Belma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440680"/>
            <a:ext cx="137160" cy="640080"/>
          </a:xfrm>
          <a:prstGeom prst="rect">
            <a:avLst/>
          </a:prstGeom>
          <a:solidFill>
            <a:srgbClr val="2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F2E"/>
                </a:solidFill>
                <a:latin typeface="Helvetica Neue"/>
              </a:rPr>
              <a:t>Démo Joanel (default)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http://localhost:8765/index.html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Timeline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6 sections sur 10-12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9476" y="1828800"/>
            <a:ext cx="1828800" cy="82296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" y="187451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0:00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→ 1:00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" y="2651760"/>
            <a:ext cx="1828800" cy="146304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Intro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problème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99716" y="1828800"/>
            <a:ext cx="1828800" cy="822960"/>
          </a:xfrm>
          <a:prstGeom prst="rect">
            <a:avLst/>
          </a:prstGeom>
          <a:solidFill>
            <a:srgbClr val="2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99716" y="187451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1:00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→ 2:30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99716" y="2651760"/>
            <a:ext cx="1828800" cy="146304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99716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Tour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9956" y="1828800"/>
            <a:ext cx="1828800" cy="82296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9956" y="187451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2:30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→ 5:00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9956" y="2651760"/>
            <a:ext cx="1828800" cy="146304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9956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SMS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0196" y="1828800"/>
            <a:ext cx="1828800" cy="822960"/>
          </a:xfrm>
          <a:prstGeom prst="rect">
            <a:avLst/>
          </a:prstGeom>
          <a:solidFill>
            <a:srgbClr val="2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0196" y="187451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5:00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→ 7:30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2651760"/>
            <a:ext cx="1828800" cy="146304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0196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Voice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0436" y="1828800"/>
            <a:ext cx="1828800" cy="82296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0436" y="187451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7:30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→ 9:00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0436" y="2651760"/>
            <a:ext cx="1828800" cy="146304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0436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Robustesse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conformité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80676" y="1828800"/>
            <a:ext cx="1828800" cy="822960"/>
          </a:xfrm>
          <a:prstGeom prst="rect">
            <a:avLst/>
          </a:prstGeom>
          <a:solidFill>
            <a:srgbClr val="2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0676" y="1874519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9:00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→ 12:00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80676" y="2651760"/>
            <a:ext cx="1828800" cy="146304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0676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Multi-canal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&amp; closing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Helvetica Neue"/>
              </a:rPr>
              <a:t>Variante Loom solo : mêmes sections, condensées en 8-10 min, pas de Q&amp;A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Intro &amp;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⏱ 0:00 → 1:00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F2E"/>
                </a:solidFill>
                <a:latin typeface="Helvetica Neue"/>
              </a:rPr>
              <a:t>Pose le contexte en 3 phrases. Pas de jargon.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Helvetica Neue"/>
              </a:rPr>
              <a:t>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« Merci de prendre 10 minutes. Je te montre NextMove. »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70 % des prospects perdus si pas de réponse en 6h (étude OACIQ)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Tu ne peux pas être au téléphone 24/7. Embauche d'une adjointe = 50k$/an + risque humain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NextMove fait le job d'une adjointe humaine sur les premières 24h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28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45C3F"/>
                </a:solidFill>
                <a:latin typeface="Helvetica Neue"/>
              </a:rPr>
              <a:t>Phrase clé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F1F2E"/>
                </a:solidFill>
                <a:latin typeface="Helvetica Neue"/>
              </a:rPr>
              <a:t>“Concrètement, ça donne quoi. Regarde.”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Tour du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⏱ 1:00 → 2:30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F2E"/>
                </a:solidFill>
                <a:latin typeface="Helvetica Neue"/>
              </a:rPr>
              <a:t>Montre l'écran d'accueil — KPIs + prospects chauds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Helvetica Neue"/>
              </a:rPr>
              <a:t>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Pointer 4 KPIs : 10 actifs, 5 chauds, 3.8 M$ pipeline, 3 relances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Cliquer sur Mathieu Simard (score 9) — détail prospect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Montrer resume_ia + besoins extraits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Cliquer « Voir la conversation » → messages naturels FR-QC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28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F8A8C"/>
                </a:solidFill>
                <a:latin typeface="Helvetica Neue"/>
              </a:rPr>
              <a:t>Phrase clé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F1F2E"/>
                </a:solidFill>
                <a:latin typeface="Helvetica Neue"/>
              </a:rPr>
              <a:t>“Tu n'as rien fait sur ce prospect. L'IA l'a qualifié toute seule.”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Scénario LIVE 1 — 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⏱ 2:30 → 5:00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F2E"/>
                </a:solidFill>
                <a:latin typeface="Helvetica Neue"/>
              </a:rPr>
              <a:t>SMS testeuse → bot répond → nouveau prospect dans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Helvetica Neue"/>
              </a:rPr>
              <a:t>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SMS depuis testeuse vers +1 272 282 5614 : « Bonjour, je cherche un condo à Mercier-Est, budget 380k, on est 2 »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Pendant les 10-30s d'attente : commenter le flux Twilio → n8n → Claude → Supabase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Bot répond par SMS naturel → montrer sur le téléphone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F5 dashboard → nouveau prospect avec budget / secteur / type déjà extraits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28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45C3F"/>
                </a:solidFill>
                <a:latin typeface="Helvetica Neue"/>
              </a:rPr>
              <a:t>Phrase clé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F1F2E"/>
                </a:solidFill>
                <a:latin typeface="Helvetica Neue"/>
              </a:rPr>
              <a:t>“30 secondes après le SMS, tu as une fiche complète. Sans toi.”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37160" cy="640080"/>
          </a:xfrm>
          <a:prstGeom prst="rect">
            <a:avLst/>
          </a:prstGeom>
          <a:solidFill>
            <a:srgbClr val="D99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9E2F"/>
                </a:solidFill>
                <a:latin typeface="Helvetica Neue"/>
              </a:rPr>
              <a:t>Si ça foire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80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Si Twilio lag &gt; 30s : « Le SMS passe par Twilio, ça peut prendre 30s, continuons.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Scénario LIVE 2 — Voice Telegram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⏱ 5:00 → 7:30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F2E"/>
                </a:solidFill>
                <a:latin typeface="Helvetica Neue"/>
              </a:rPr>
              <a:t>Interroger la base à la voix — démo mémoire conversationnelle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Helvetica Neue"/>
              </a:rPr>
              <a:t>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Voice 1 → « Combien de prospects chauds j'ai actuellement ? »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Voice 2 follow-up → « Et lesquels cherchent à Anjou ? » (mémoire active)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Voice 3 → « C'est quoi le budget de Sophie Lavoie ? »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Téléphone à côté du laptop pour qu'on entende les réponses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28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F8A8C"/>
                </a:solidFill>
                <a:latin typeface="Helvetica Neue"/>
              </a:rPr>
              <a:t>Phrase clé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F1F2E"/>
                </a:solidFill>
                <a:latin typeface="Helvetica Neue"/>
              </a:rPr>
              <a:t>“Tu interroges ta base à la voix. Pas besoin de sortir le laptop.”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37160" cy="640080"/>
          </a:xfrm>
          <a:prstGeom prst="rect">
            <a:avLst/>
          </a:prstGeom>
          <a:solidFill>
            <a:srgbClr val="D99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9E2F"/>
                </a:solidFill>
                <a:latin typeface="Helvetica Neue"/>
              </a:rPr>
              <a:t>Si ça foire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80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Si réponse foire : « Le modèle peut hésiter — on a un système d'éval continue.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Robustesse &amp; conformité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⏱ 7:30 → 9:00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F2E"/>
                </a:solidFill>
                <a:latin typeface="Helvetica Neue"/>
              </a:rPr>
              <a:t>STOP, relances auto, garde-fou humain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Helvetica Neue"/>
              </a:rPr>
              <a:t>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Marc Dubois (perdu, blacklisté) → « STOP respecté, Loi 25 + CASL obligatoires »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Patrick Côté (silence J+2, relance planifiée demain) → relance auto personnalisée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Garde-fou G4 : si toi tu réponds manuellement, l'IA se met en pause 24h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Tu gardes la main en 1 clic (pause_relances)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28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45C3F"/>
                </a:solidFill>
                <a:latin typeface="Helvetica Neue"/>
              </a:rPr>
              <a:t>Phrase clé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F1F2E"/>
                </a:solidFill>
                <a:latin typeface="Helvetica Neue"/>
              </a:rPr>
              <a:t>“Conformité by design. Toi tu gardes le contrôle.”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Multi-canal, scale &amp;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⏱ 9:00 → 12:00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F2E"/>
                </a:solidFill>
                <a:latin typeface="Helvetica Neue"/>
              </a:rPr>
              <a:t>Vision multi-tenant + récap + offer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Helvetica Neue"/>
              </a:rPr>
              <a:t>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SMS prospects + voice courtier = même base unifiée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Multi-tenant câblé en base — 50 courtiers = activation côté UI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Données au Canada (Supabase ca-central-1), Loi 25 + OACIQ OK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Helvetica Neue"/>
              </a:rPr>
              <a:t>•  Récap 3 points : qualif sans toi · voice à la demande · conformité by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280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F8A8C"/>
                </a:solidFill>
                <a:latin typeface="Helvetica Neue"/>
              </a:rPr>
              <a:t>Phrase clé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F1F2E"/>
                </a:solidFill>
                <a:latin typeface="Helvetica Neue"/>
              </a:rPr>
              <a:t>“Essai 30 jours avec ton propre numéro Twilio cette semaine. Tu me dis ?”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37160" cy="640080"/>
          </a:xfrm>
          <a:prstGeom prst="rect">
            <a:avLst/>
          </a:prstGeom>
          <a:solidFill>
            <a:srgbClr val="D99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9E2F"/>
                </a:solidFill>
                <a:latin typeface="Helvetica Neue"/>
              </a:rPr>
              <a:t>Si ça foire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80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Question pricing : « Je note, je te reviens cet après-midi avec une proposition.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Variante Loom solo · 8-10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Backup pré-enregistré + à envoyer avant la démo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F2E"/>
                </a:solidFill>
                <a:latin typeface="Helvetica Neue"/>
              </a:rPr>
              <a:t>Mêmes sections, condensées (pas de Q&amp;A)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0:00 → 0:45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2024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elvetica Neue"/>
              </a:rPr>
              <a:t>Intro problème (raccourci)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0:45 → 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46888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elvetica Neue"/>
              </a:rPr>
              <a:t>Tour dashboard (réduit)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2286000" cy="4572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2:00 → 4:30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01752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elvetica Neue"/>
              </a:rPr>
              <a:t>SMS LIVE — 1 scénario complet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2286000" cy="4572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4:30 → 6:30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56616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elvetica Neue"/>
              </a:rPr>
              <a:t>Voice Telegram — 3 questions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2286000" cy="4572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6:30 → 8:00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148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elvetica Neue"/>
              </a:rPr>
              <a:t>Robustesse (1 min par cas)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2286000" cy="4572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8:00 → 8:30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66344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elvetica Neue"/>
              </a:rPr>
              <a:t>Recap court + lien vers démo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45C3F"/>
                </a:solidFill>
                <a:latin typeface="Helvetica Neue"/>
              </a:rPr>
              <a:t>Tips Loom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Webcam ON dans le coin · Chapters pour découper · Envoyer le lien AVANT la démo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Backups par scénario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Si ça foire, voilà comment rattraper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" cy="6400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F2E"/>
                </a:solidFill>
                <a:latin typeface="Helvetica Neue"/>
              </a:rPr>
              <a:t>Twilio SMS lent (&gt;30s)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25880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→ Montrer une conversation seedée existante (Marie-Claude Tremblay)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29968"/>
            <a:ext cx="137160" cy="6400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7568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F2E"/>
                </a:solidFill>
                <a:latin typeface="Helvetica Neue"/>
              </a:rPr>
              <a:t>Voice bot ne répond 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75688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→ Ouvrir le Loom solo dans un onglet, jouer la séquence 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37160" cy="6400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2549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F2E"/>
                </a:solidFill>
                <a:latin typeface="Helvetica Neue"/>
              </a:rPr>
              <a:t>Dashboard ne charge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25496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→ Onglet Supabase dashboard ouvert : montrer la DB direct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137160" cy="6400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7530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F2E"/>
                </a:solidFill>
                <a:latin typeface="Helvetica Neue"/>
              </a:rPr>
              <a:t>Crash navigateur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75304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→ URL ?courtier=... pinnée dans les favoris, F5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79392"/>
            <a:ext cx="137160" cy="6400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251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F2E"/>
                </a:solidFill>
                <a:latin typeface="Helvetica Neue"/>
              </a:rPr>
              <a:t>Question pricing imprévue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325112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→ « Bonne question, je te reviens cet après-midi avec une proposition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137160" cy="6400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74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F2E"/>
                </a:solidFill>
                <a:latin typeface="Helvetica Neue"/>
              </a:rPr>
              <a:t>Question technique pointue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074920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→ « On a un dashboard tech pour le CTO, je te montre après si tu veux 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Numéros &amp; accès utiles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À avoir sous la main pendant la démo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45C3F"/>
                </a:solidFill>
                <a:latin typeface="Helvetica Neue"/>
              </a:rPr>
              <a:t>Bot Telegram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801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 Neue"/>
              </a:rPr>
              <a:t>@nextmove_voice_bot · allowlist user_id 7326149684 (toi)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45C3F"/>
                </a:solidFill>
                <a:latin typeface="Helvetica Neue"/>
              </a:rPr>
              <a:t>Numéro Twilio NextMove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8288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 Neue"/>
              </a:rPr>
              <a:t>+1 272 282 5614 (envoyer SMS ici pour démo)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45C3F"/>
                </a:solidFill>
                <a:latin typeface="Helvetica Neue"/>
              </a:rPr>
              <a:t>Testeuse SMS (femme)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774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 Neue"/>
              </a:rPr>
              <a:t>+1 579 421 6910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45C3F"/>
                </a:solidFill>
                <a:latin typeface="Helvetica Neue"/>
              </a:rPr>
              <a:t>Téléphone Dennis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9260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 Neue"/>
              </a:rPr>
              <a:t>+1 450 626 0481 (reçoit briefing SMS 7h30)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45C3F"/>
                </a:solidFill>
                <a:latin typeface="Helvetica Neue"/>
              </a:rPr>
              <a:t>Supabase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747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 Neue"/>
              </a:rPr>
              <a:t>fhqybnkxqfvbsjvwrcob · ca-central-1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45C3F"/>
                </a:solidFill>
                <a:latin typeface="Helvetica Neue"/>
              </a:rPr>
              <a:t>Workflow voice (n8n)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0233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 Neue"/>
              </a:rPr>
              <a:t>id 0UNAKGRciurrtlez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45C3F"/>
                </a:solidFill>
                <a:latin typeface="Helvetica Neue"/>
              </a:rPr>
              <a:t>Workflow intake (n8n)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72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 Neue"/>
              </a:rPr>
              <a:t>id nmmmJu6HRwq0nqyI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45C3F"/>
                </a:solidFill>
                <a:latin typeface="Helvetica Neue"/>
              </a:rPr>
              <a:t>Workflow briefing (n8n)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120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 Neue"/>
              </a:rPr>
              <a:t>id 9MFuSmxVnsJUQove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 Neue"/>
              </a:rPr>
              <a:t>À mentionner / à éviter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E8DC"/>
                </a:solidFill>
                <a:latin typeface="Helvetica Neue"/>
              </a:rPr>
              <a:t>Réflexes en démo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D5F"/>
                </a:solidFill>
                <a:latin typeface="Helvetica Neue"/>
              </a:rPr>
              <a:t>✓  À mentionner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Données restent au Canada (Loi 25)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STOP / OPT-OUT respecté by design (Loi 25 + CASL)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Tu gardes la main en 1 clic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Tu vois en temps réel ce que dit l'IA (pas de boîte noire)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Architecture multi-tenant prête (scale possible)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03A2E"/>
                </a:solidFill>
                <a:latin typeface="Helvetica Neue"/>
              </a:rPr>
              <a:t>✗  À éviter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Mentionner voice cloning (hors scope MVP)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Mentionner app mobile native (hors scope)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Annoncer un dashboard analytique multi-courtier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Nommer Claude / OpenAI / n8n (sauf si tech demande)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Helvetica Neue"/>
              </a:rPr>
              <a:t>•  Donner un prix précis sans valider en interne d'abord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961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F2E"/>
                </a:solidFill>
                <a:latin typeface="Helvetica Neue"/>
              </a:rPr>
              <a:t>Post-démo (5 min après le call)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88736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 Neue"/>
              </a:rPr>
              <a:t>Envoyer email récap : Loom URL + dashboard de test (?courtier=...) + noter prochaine étape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Helvetica Neue"/>
              </a:rPr>
              <a:t>Storyboard démo NextMove · 13 mai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Helvetica Neue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